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7" r:id="rId2"/>
    <p:sldId id="258" r:id="rId3"/>
    <p:sldId id="259" r:id="rId4"/>
    <p:sldId id="260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C7BE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05C86D-9247-4DC1-B7FD-E785AE52378F}" v="17" dt="2025-11-14T15:11:18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93400" autoAdjust="0"/>
  </p:normalViewPr>
  <p:slideViewPr>
    <p:cSldViewPr snapToGrid="0">
      <p:cViewPr>
        <p:scale>
          <a:sx n="50" d="100"/>
          <a:sy n="50" d="100"/>
        </p:scale>
        <p:origin x="452" y="2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ma kaushik" userId="0c0d7b87d5160be2" providerId="LiveId" clId="{C6E892E2-80CC-4FFB-8FE3-46E5AC1B323C}"/>
    <pc:docChg chg="undo custSel addSld delSld modSld">
      <pc:chgData name="chama kaushik" userId="0c0d7b87d5160be2" providerId="LiveId" clId="{C6E892E2-80CC-4FFB-8FE3-46E5AC1B323C}" dt="2025-11-14T15:13:40.544" v="276" actId="14100"/>
      <pc:docMkLst>
        <pc:docMk/>
      </pc:docMkLst>
      <pc:sldChg chg="modSp mod">
        <pc:chgData name="chama kaushik" userId="0c0d7b87d5160be2" providerId="LiveId" clId="{C6E892E2-80CC-4FFB-8FE3-46E5AC1B323C}" dt="2025-11-14T12:00:35.816" v="239" actId="20577"/>
        <pc:sldMkLst>
          <pc:docMk/>
          <pc:sldMk cId="2963754166" sldId="258"/>
        </pc:sldMkLst>
        <pc:spChg chg="mod">
          <ac:chgData name="chama kaushik" userId="0c0d7b87d5160be2" providerId="LiveId" clId="{C6E892E2-80CC-4FFB-8FE3-46E5AC1B323C}" dt="2025-11-14T12:00:35.816" v="239" actId="20577"/>
          <ac:spMkLst>
            <pc:docMk/>
            <pc:sldMk cId="2963754166" sldId="258"/>
            <ac:spMk id="3" creationId="{0D7143B7-64BB-1E3B-E4FB-8A455520665B}"/>
          </ac:spMkLst>
        </pc:spChg>
      </pc:sldChg>
      <pc:sldChg chg="modSp mod">
        <pc:chgData name="chama kaushik" userId="0c0d7b87d5160be2" providerId="LiveId" clId="{C6E892E2-80CC-4FFB-8FE3-46E5AC1B323C}" dt="2025-11-14T15:13:40.544" v="276" actId="14100"/>
        <pc:sldMkLst>
          <pc:docMk/>
          <pc:sldMk cId="1160338300" sldId="259"/>
        </pc:sldMkLst>
        <pc:spChg chg="mod">
          <ac:chgData name="chama kaushik" userId="0c0d7b87d5160be2" providerId="LiveId" clId="{C6E892E2-80CC-4FFB-8FE3-46E5AC1B323C}" dt="2025-11-14T15:13:40.544" v="276" actId="14100"/>
          <ac:spMkLst>
            <pc:docMk/>
            <pc:sldMk cId="1160338300" sldId="259"/>
            <ac:spMk id="2" creationId="{D99F75FE-1B4D-CB0C-7941-01F9DE85D03E}"/>
          </ac:spMkLst>
        </pc:spChg>
        <pc:spChg chg="mod">
          <ac:chgData name="chama kaushik" userId="0c0d7b87d5160be2" providerId="LiveId" clId="{C6E892E2-80CC-4FFB-8FE3-46E5AC1B323C}" dt="2025-11-14T12:06:00.805" v="247" actId="27636"/>
          <ac:spMkLst>
            <pc:docMk/>
            <pc:sldMk cId="1160338300" sldId="259"/>
            <ac:spMk id="3" creationId="{70C6E92A-5ACB-843F-7902-7952F7F876D9}"/>
          </ac:spMkLst>
        </pc:spChg>
        <pc:picChg chg="mod">
          <ac:chgData name="chama kaushik" userId="0c0d7b87d5160be2" providerId="LiveId" clId="{C6E892E2-80CC-4FFB-8FE3-46E5AC1B323C}" dt="2025-11-14T12:06:29.744" v="251" actId="14100"/>
          <ac:picMkLst>
            <pc:docMk/>
            <pc:sldMk cId="1160338300" sldId="259"/>
            <ac:picMk id="21" creationId="{7F777011-028E-3896-6467-E2DCA78287D2}"/>
          </ac:picMkLst>
        </pc:picChg>
      </pc:sldChg>
      <pc:sldChg chg="modSp mod">
        <pc:chgData name="chama kaushik" userId="0c0d7b87d5160be2" providerId="LiveId" clId="{C6E892E2-80CC-4FFB-8FE3-46E5AC1B323C}" dt="2025-11-14T12:01:52.172" v="244" actId="20577"/>
        <pc:sldMkLst>
          <pc:docMk/>
          <pc:sldMk cId="2016466256" sldId="260"/>
        </pc:sldMkLst>
        <pc:spChg chg="mod">
          <ac:chgData name="chama kaushik" userId="0c0d7b87d5160be2" providerId="LiveId" clId="{C6E892E2-80CC-4FFB-8FE3-46E5AC1B323C}" dt="2025-11-14T12:01:52.172" v="244" actId="20577"/>
          <ac:spMkLst>
            <pc:docMk/>
            <pc:sldMk cId="2016466256" sldId="260"/>
            <ac:spMk id="2" creationId="{8054CAF3-F00E-441A-DE54-BB3E086396D1}"/>
          </ac:spMkLst>
        </pc:spChg>
      </pc:sldChg>
      <pc:sldChg chg="addSp modSp new mod">
        <pc:chgData name="chama kaushik" userId="0c0d7b87d5160be2" providerId="LiveId" clId="{C6E892E2-80CC-4FFB-8FE3-46E5AC1B323C}" dt="2025-11-14T12:03:47.700" v="245" actId="207"/>
        <pc:sldMkLst>
          <pc:docMk/>
          <pc:sldMk cId="27736485" sldId="265"/>
        </pc:sldMkLst>
        <pc:spChg chg="mod">
          <ac:chgData name="chama kaushik" userId="0c0d7b87d5160be2" providerId="LiveId" clId="{C6E892E2-80CC-4FFB-8FE3-46E5AC1B323C}" dt="2025-11-13T16:15:42.560" v="9" actId="14100"/>
          <ac:spMkLst>
            <pc:docMk/>
            <pc:sldMk cId="27736485" sldId="265"/>
            <ac:spMk id="2" creationId="{48F5F22A-F7DD-0596-3031-0C97BDFC15B6}"/>
          </ac:spMkLst>
        </pc:spChg>
        <pc:spChg chg="mod">
          <ac:chgData name="chama kaushik" userId="0c0d7b87d5160be2" providerId="LiveId" clId="{C6E892E2-80CC-4FFB-8FE3-46E5AC1B323C}" dt="2025-11-14T12:03:47.700" v="245" actId="207"/>
          <ac:spMkLst>
            <pc:docMk/>
            <pc:sldMk cId="27736485" sldId="265"/>
            <ac:spMk id="3" creationId="{E99A44B6-9E59-4B6A-39B9-D8E7B8B9CD51}"/>
          </ac:spMkLst>
        </pc:spChg>
        <pc:picChg chg="add mod">
          <ac:chgData name="chama kaushik" userId="0c0d7b87d5160be2" providerId="LiveId" clId="{C6E892E2-80CC-4FFB-8FE3-46E5AC1B323C}" dt="2025-11-13T16:22:58.052" v="55" actId="14100"/>
          <ac:picMkLst>
            <pc:docMk/>
            <pc:sldMk cId="27736485" sldId="265"/>
            <ac:picMk id="5" creationId="{8EC9BB00-5E97-D17C-4609-75CD046457AF}"/>
          </ac:picMkLst>
        </pc:picChg>
        <pc:picChg chg="add mod">
          <ac:chgData name="chama kaushik" userId="0c0d7b87d5160be2" providerId="LiveId" clId="{C6E892E2-80CC-4FFB-8FE3-46E5AC1B323C}" dt="2025-11-13T16:23:07.979" v="59" actId="14100"/>
          <ac:picMkLst>
            <pc:docMk/>
            <pc:sldMk cId="27736485" sldId="265"/>
            <ac:picMk id="7" creationId="{946EB19F-533A-716D-3351-21C3CF75BA01}"/>
          </ac:picMkLst>
        </pc:picChg>
      </pc:sldChg>
      <pc:sldChg chg="addSp delSp modSp new mod">
        <pc:chgData name="chama kaushik" userId="0c0d7b87d5160be2" providerId="LiveId" clId="{C6E892E2-80CC-4FFB-8FE3-46E5AC1B323C}" dt="2025-11-14T15:13:08.827" v="274" actId="207"/>
        <pc:sldMkLst>
          <pc:docMk/>
          <pc:sldMk cId="2910682215" sldId="266"/>
        </pc:sldMkLst>
        <pc:spChg chg="mod">
          <ac:chgData name="chama kaushik" userId="0c0d7b87d5160be2" providerId="LiveId" clId="{C6E892E2-80CC-4FFB-8FE3-46E5AC1B323C}" dt="2025-11-13T16:24:04.132" v="61" actId="14100"/>
          <ac:spMkLst>
            <pc:docMk/>
            <pc:sldMk cId="2910682215" sldId="266"/>
            <ac:spMk id="2" creationId="{9415F458-6F6E-ECAC-D35D-DEBC297890F9}"/>
          </ac:spMkLst>
        </pc:spChg>
        <pc:spChg chg="add del mod">
          <ac:chgData name="chama kaushik" userId="0c0d7b87d5160be2" providerId="LiveId" clId="{C6E892E2-80CC-4FFB-8FE3-46E5AC1B323C}" dt="2025-11-14T15:13:08.827" v="274" actId="207"/>
          <ac:spMkLst>
            <pc:docMk/>
            <pc:sldMk cId="2910682215" sldId="266"/>
            <ac:spMk id="3" creationId="{905E0FD9-E1FD-0098-B6C7-F4BD4820A3CF}"/>
          </ac:spMkLst>
        </pc:spChg>
        <pc:spChg chg="add del mod">
          <ac:chgData name="chama kaushik" userId="0c0d7b87d5160be2" providerId="LiveId" clId="{C6E892E2-80CC-4FFB-8FE3-46E5AC1B323C}" dt="2025-11-13T16:27:47.361" v="82" actId="14100"/>
          <ac:spMkLst>
            <pc:docMk/>
            <pc:sldMk cId="2910682215" sldId="266"/>
            <ac:spMk id="6" creationId="{7BD47F81-8346-98A3-8834-84B837F6C629}"/>
          </ac:spMkLst>
        </pc:spChg>
        <pc:picChg chg="add mod">
          <ac:chgData name="chama kaushik" userId="0c0d7b87d5160be2" providerId="LiveId" clId="{C6E892E2-80CC-4FFB-8FE3-46E5AC1B323C}" dt="2025-11-13T16:27:53.030" v="89" actId="931"/>
          <ac:picMkLst>
            <pc:docMk/>
            <pc:sldMk cId="2910682215" sldId="266"/>
            <ac:picMk id="5" creationId="{17958071-CAF5-0107-F771-6787B9AE5206}"/>
          </ac:picMkLst>
        </pc:picChg>
        <pc:picChg chg="add mod">
          <ac:chgData name="chama kaushik" userId="0c0d7b87d5160be2" providerId="LiveId" clId="{C6E892E2-80CC-4FFB-8FE3-46E5AC1B323C}" dt="2025-11-13T16:28:23.706" v="95" actId="931"/>
          <ac:picMkLst>
            <pc:docMk/>
            <pc:sldMk cId="2910682215" sldId="266"/>
            <ac:picMk id="8" creationId="{E15184A5-DF18-42A2-91C0-5ECDB8EFFFB9}"/>
          </ac:picMkLst>
        </pc:picChg>
        <pc:picChg chg="add mod">
          <ac:chgData name="chama kaushik" userId="0c0d7b87d5160be2" providerId="LiveId" clId="{C6E892E2-80CC-4FFB-8FE3-46E5AC1B323C}" dt="2025-11-13T16:28:57.545" v="125" actId="14100"/>
          <ac:picMkLst>
            <pc:docMk/>
            <pc:sldMk cId="2910682215" sldId="266"/>
            <ac:picMk id="10" creationId="{04D65DE8-C794-A661-43C9-7EB005E64BD4}"/>
          </ac:picMkLst>
        </pc:picChg>
      </pc:sldChg>
      <pc:sldChg chg="addSp delSp modSp new mod">
        <pc:chgData name="chama kaushik" userId="0c0d7b87d5160be2" providerId="LiveId" clId="{C6E892E2-80CC-4FFB-8FE3-46E5AC1B323C}" dt="2025-11-14T11:48:46.113" v="155" actId="14100"/>
        <pc:sldMkLst>
          <pc:docMk/>
          <pc:sldMk cId="3626632916" sldId="267"/>
        </pc:sldMkLst>
        <pc:spChg chg="mod">
          <ac:chgData name="chama kaushik" userId="0c0d7b87d5160be2" providerId="LiveId" clId="{C6E892E2-80CC-4FFB-8FE3-46E5AC1B323C}" dt="2025-11-14T11:48:05.712" v="149" actId="255"/>
          <ac:spMkLst>
            <pc:docMk/>
            <pc:sldMk cId="3626632916" sldId="267"/>
            <ac:spMk id="2" creationId="{ABCEBF14-3845-6775-9AC8-F1A78FEABDBB}"/>
          </ac:spMkLst>
        </pc:spChg>
        <pc:spChg chg="del">
          <ac:chgData name="chama kaushik" userId="0c0d7b87d5160be2" providerId="LiveId" clId="{C6E892E2-80CC-4FFB-8FE3-46E5AC1B323C}" dt="2025-11-14T11:48:25.120" v="150" actId="931"/>
          <ac:spMkLst>
            <pc:docMk/>
            <pc:sldMk cId="3626632916" sldId="267"/>
            <ac:spMk id="3" creationId="{23963F99-42E7-2866-2891-2A423D942334}"/>
          </ac:spMkLst>
        </pc:spChg>
        <pc:picChg chg="add mod">
          <ac:chgData name="chama kaushik" userId="0c0d7b87d5160be2" providerId="LiveId" clId="{C6E892E2-80CC-4FFB-8FE3-46E5AC1B323C}" dt="2025-11-14T11:48:46.113" v="155" actId="14100"/>
          <ac:picMkLst>
            <pc:docMk/>
            <pc:sldMk cId="3626632916" sldId="267"/>
            <ac:picMk id="5" creationId="{D1D0415A-7F46-65A7-A365-7388A032A000}"/>
          </ac:picMkLst>
        </pc:picChg>
      </pc:sldChg>
      <pc:sldChg chg="addSp delSp modSp new mod">
        <pc:chgData name="chama kaushik" userId="0c0d7b87d5160be2" providerId="LiveId" clId="{C6E892E2-80CC-4FFB-8FE3-46E5AC1B323C}" dt="2025-11-14T11:53:35.901" v="186" actId="1076"/>
        <pc:sldMkLst>
          <pc:docMk/>
          <pc:sldMk cId="3336395555" sldId="268"/>
        </pc:sldMkLst>
        <pc:spChg chg="mod">
          <ac:chgData name="chama kaushik" userId="0c0d7b87d5160be2" providerId="LiveId" clId="{C6E892E2-80CC-4FFB-8FE3-46E5AC1B323C}" dt="2025-11-14T11:49:27.114" v="160" actId="14100"/>
          <ac:spMkLst>
            <pc:docMk/>
            <pc:sldMk cId="3336395555" sldId="268"/>
            <ac:spMk id="2" creationId="{F0241D27-55E5-9E99-6CBB-F8A021A1B122}"/>
          </ac:spMkLst>
        </pc:spChg>
        <pc:spChg chg="del mod">
          <ac:chgData name="chama kaushik" userId="0c0d7b87d5160be2" providerId="LiveId" clId="{C6E892E2-80CC-4FFB-8FE3-46E5AC1B323C}" dt="2025-11-14T11:53:04.825" v="180" actId="931"/>
          <ac:spMkLst>
            <pc:docMk/>
            <pc:sldMk cId="3336395555" sldId="268"/>
            <ac:spMk id="3" creationId="{837144DD-AD38-5383-CD7A-6CAD0BEC6414}"/>
          </ac:spMkLst>
        </pc:spChg>
        <pc:picChg chg="add mod">
          <ac:chgData name="chama kaushik" userId="0c0d7b87d5160be2" providerId="LiveId" clId="{C6E892E2-80CC-4FFB-8FE3-46E5AC1B323C}" dt="2025-11-14T11:53:35.901" v="186" actId="1076"/>
          <ac:picMkLst>
            <pc:docMk/>
            <pc:sldMk cId="3336395555" sldId="268"/>
            <ac:picMk id="5" creationId="{646C4ACF-BB33-AE89-8505-C8CAA89C16F3}"/>
          </ac:picMkLst>
        </pc:picChg>
      </pc:sldChg>
      <pc:sldChg chg="new del">
        <pc:chgData name="chama kaushik" userId="0c0d7b87d5160be2" providerId="LiveId" clId="{C6E892E2-80CC-4FFB-8FE3-46E5AC1B323C}" dt="2025-11-14T11:50:01.990" v="161" actId="2696"/>
        <pc:sldMkLst>
          <pc:docMk/>
          <pc:sldMk cId="2342542429" sldId="269"/>
        </pc:sldMkLst>
      </pc:sldChg>
      <pc:sldChg chg="addSp modSp new mod">
        <pc:chgData name="chama kaushik" userId="0c0d7b87d5160be2" providerId="LiveId" clId="{C6E892E2-80CC-4FFB-8FE3-46E5AC1B323C}" dt="2025-11-14T11:51:34.021" v="176" actId="13926"/>
        <pc:sldMkLst>
          <pc:docMk/>
          <pc:sldMk cId="3818680600" sldId="269"/>
        </pc:sldMkLst>
        <pc:spChg chg="add mod">
          <ac:chgData name="chama kaushik" userId="0c0d7b87d5160be2" providerId="LiveId" clId="{C6E892E2-80CC-4FFB-8FE3-46E5AC1B323C}" dt="2025-11-14T11:51:34.021" v="176" actId="13926"/>
          <ac:spMkLst>
            <pc:docMk/>
            <pc:sldMk cId="3818680600" sldId="269"/>
            <ac:spMk id="2" creationId="{8E8F69BD-4214-A6EB-CC5B-3C84ADA8665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77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433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889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29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74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696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934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466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677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80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037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070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207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256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100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449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7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AEFF3-2BF6-459B-8840-51667EA1496F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B59F3-2AEE-4BC0-A3F6-FD0198C4F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658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4967F-857A-F989-8714-A84A9105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5300" b="1" dirty="0" err="1"/>
              <a:t>Labmentix</a:t>
            </a:r>
            <a:br>
              <a:rPr lang="en-IN" b="1" dirty="0">
                <a:solidFill>
                  <a:srgbClr val="0070C0"/>
                </a:solidFill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F98AF-A28A-4085-AC90-A3A6DEC8A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02" y="2336872"/>
            <a:ext cx="11710931" cy="4240197"/>
          </a:xfrm>
        </p:spPr>
        <p:txBody>
          <a:bodyPr/>
          <a:lstStyle/>
          <a:p>
            <a:pPr marL="0" indent="0">
              <a:buNone/>
            </a:pPr>
            <a:r>
              <a:rPr lang="en-IN" sz="4000" b="1" dirty="0">
                <a:solidFill>
                  <a:schemeClr val="bg1"/>
                </a:solidFill>
              </a:rPr>
              <a:t>                        </a:t>
            </a:r>
            <a:r>
              <a:rPr lang="en-IN" sz="4000" b="1" dirty="0">
                <a:solidFill>
                  <a:srgbClr val="FFC000"/>
                </a:solidFill>
              </a:rPr>
              <a:t>Project Title -</a:t>
            </a:r>
            <a:r>
              <a:rPr lang="en-IN" sz="4000" b="1" dirty="0"/>
              <a:t>                        </a:t>
            </a:r>
            <a:r>
              <a:rPr lang="en-IN" sz="3600" b="1" dirty="0"/>
              <a:t>Instagram Performance Analytics for Sugar Cosmetics</a:t>
            </a:r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IN" sz="3600" b="1" dirty="0">
                <a:solidFill>
                  <a:srgbClr val="FFC000"/>
                </a:solidFill>
              </a:rPr>
              <a:t>         </a:t>
            </a:r>
            <a:endParaRPr lang="en-IN" sz="3600" dirty="0">
              <a:solidFill>
                <a:srgbClr val="FFC000"/>
              </a:solidFill>
            </a:endParaRPr>
          </a:p>
          <a:p>
            <a:pPr marL="0" indent="0" algn="r">
              <a:buNone/>
            </a:pPr>
            <a:br>
              <a:rPr lang="en-IN" b="1" dirty="0"/>
            </a:br>
            <a:r>
              <a:rPr lang="en-US" b="1" dirty="0">
                <a:solidFill>
                  <a:srgbClr val="FFC000"/>
                </a:solidFill>
              </a:rPr>
              <a:t>Name -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/>
              <a:t>Chama Kaushik</a:t>
            </a:r>
          </a:p>
          <a:p>
            <a:pPr marL="0" indent="0" algn="r">
              <a:buNone/>
            </a:pPr>
            <a:r>
              <a:rPr lang="en-US" b="1" dirty="0">
                <a:solidFill>
                  <a:srgbClr val="FFC000"/>
                </a:solidFill>
              </a:rPr>
              <a:t>Domain -</a:t>
            </a:r>
            <a:r>
              <a:rPr lang="en-US" b="1" dirty="0"/>
              <a:t> Data Analyst</a:t>
            </a:r>
          </a:p>
          <a:p>
            <a:pPr marL="0" indent="0" algn="r">
              <a:buNone/>
            </a:pPr>
            <a:r>
              <a:rPr lang="en-US" b="1" dirty="0">
                <a:solidFill>
                  <a:srgbClr val="FFC000"/>
                </a:solidFill>
              </a:rPr>
              <a:t>Batch -</a:t>
            </a:r>
            <a:r>
              <a:rPr lang="en-US" b="1" dirty="0">
                <a:solidFill>
                  <a:srgbClr val="EE0000"/>
                </a:solidFill>
              </a:rPr>
              <a:t> </a:t>
            </a:r>
            <a:r>
              <a:rPr lang="en-US" b="1" dirty="0"/>
              <a:t>DA/BA 15 August</a:t>
            </a:r>
          </a:p>
          <a:p>
            <a:pPr marL="0" indent="0" algn="r">
              <a:buNone/>
            </a:pPr>
            <a:r>
              <a:rPr lang="en-US" b="1" dirty="0">
                <a:solidFill>
                  <a:srgbClr val="FFC000"/>
                </a:solidFill>
              </a:rPr>
              <a:t>Year -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/>
              <a:t>2025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Labmentix">
            <a:extLst>
              <a:ext uri="{FF2B5EF4-FFF2-40B4-BE49-F238E27FC236}">
                <a16:creationId xmlns:a16="http://schemas.microsoft.com/office/drawing/2014/main" id="{DA22B247-AE1F-7850-8C80-D6B995C38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669" y="837161"/>
            <a:ext cx="461342" cy="456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1F18B1-F0E3-DFB6-CEE4-B44874714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681" y="4171949"/>
            <a:ext cx="4099701" cy="117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66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9252B-14B1-5F76-46D5-41F49CAFA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7AAE-A855-5DDC-E3CA-47D0EBA51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1002535"/>
            <a:ext cx="9613861" cy="9915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/>
              <a:t>Project Overview</a:t>
            </a:r>
            <a:r>
              <a:rPr lang="en-IN" sz="4400" dirty="0"/>
              <a:t> </a:t>
            </a:r>
            <a:br>
              <a:rPr lang="en-IN" b="1" dirty="0">
                <a:solidFill>
                  <a:srgbClr val="0070C0"/>
                </a:solidFill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143B7-64BB-1E3B-E4FB-8A4555206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20" y="2115239"/>
            <a:ext cx="11766015" cy="456098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rgbClr val="FFFF00"/>
                </a:solidFill>
              </a:rPr>
              <a:t>Project Objective</a:t>
            </a:r>
          </a:p>
          <a:p>
            <a:r>
              <a:rPr lang="en-US" sz="7200" dirty="0"/>
              <a:t>To analyze </a:t>
            </a:r>
            <a:r>
              <a:rPr lang="en-US" sz="7200" b="1" dirty="0"/>
              <a:t>Sugar Cosmetics’ Instagram performance</a:t>
            </a:r>
            <a:r>
              <a:rPr lang="en-US" sz="7200" dirty="0"/>
              <a:t> using data analytics.</a:t>
            </a:r>
          </a:p>
          <a:p>
            <a:r>
              <a:rPr lang="en-US" sz="7200" dirty="0"/>
              <a:t>Build an </a:t>
            </a:r>
            <a:r>
              <a:rPr lang="en-US" sz="7200" b="1" dirty="0"/>
              <a:t>interactive Power BI dashboard</a:t>
            </a:r>
            <a:r>
              <a:rPr lang="en-US" sz="7200" dirty="0"/>
              <a:t> to track content trends, audience engagement, and brand growth.</a:t>
            </a:r>
          </a:p>
          <a:p>
            <a:r>
              <a:rPr lang="en-US" sz="7200" dirty="0"/>
              <a:t>Identify actionable insights to </a:t>
            </a:r>
            <a:r>
              <a:rPr lang="en-US" sz="7200" b="1" dirty="0"/>
              <a:t>optimize posting strategy and improve engagement rate.</a:t>
            </a:r>
          </a:p>
          <a:p>
            <a:pPr marL="0" indent="0">
              <a:buNone/>
            </a:pPr>
            <a:r>
              <a:rPr lang="en-IN" sz="8000" b="1" dirty="0">
                <a:solidFill>
                  <a:srgbClr val="FFFF00"/>
                </a:solidFill>
              </a:rPr>
              <a:t>Dataset Summary</a:t>
            </a:r>
          </a:p>
          <a:p>
            <a:r>
              <a:rPr lang="en-IN" sz="7200" b="1" dirty="0">
                <a:solidFill>
                  <a:srgbClr val="002060"/>
                </a:solidFill>
              </a:rPr>
              <a:t>Dataset Name:</a:t>
            </a:r>
            <a:r>
              <a:rPr lang="en-IN" sz="7200" dirty="0">
                <a:solidFill>
                  <a:srgbClr val="002060"/>
                </a:solidFill>
              </a:rPr>
              <a:t> </a:t>
            </a:r>
            <a:r>
              <a:rPr lang="en-IN" sz="7200" dirty="0" err="1"/>
              <a:t>sugar_cosmetics_instagram_data</a:t>
            </a:r>
            <a:endParaRPr lang="en-IN" sz="7200" dirty="0"/>
          </a:p>
          <a:p>
            <a:r>
              <a:rPr lang="en-IN" sz="7200" b="1" dirty="0">
                <a:solidFill>
                  <a:srgbClr val="002060"/>
                </a:solidFill>
              </a:rPr>
              <a:t>Total Records:</a:t>
            </a:r>
            <a:r>
              <a:rPr lang="en-IN" sz="7200" dirty="0">
                <a:solidFill>
                  <a:srgbClr val="002060"/>
                </a:solidFill>
              </a:rPr>
              <a:t> </a:t>
            </a:r>
            <a:r>
              <a:rPr lang="en-IN" sz="7200" dirty="0"/>
              <a:t>~ 50 K</a:t>
            </a:r>
          </a:p>
          <a:p>
            <a:r>
              <a:rPr lang="en-IN" sz="7200" b="1" dirty="0">
                <a:solidFill>
                  <a:srgbClr val="002060"/>
                </a:solidFill>
              </a:rPr>
              <a:t>Columns (9): </a:t>
            </a:r>
            <a:r>
              <a:rPr lang="en-IN" sz="7200" b="1" dirty="0" err="1"/>
              <a:t>p</a:t>
            </a:r>
            <a:r>
              <a:rPr lang="en-IN" sz="7200" dirty="0" err="1"/>
              <a:t>ost_date</a:t>
            </a:r>
            <a:r>
              <a:rPr lang="en-IN" sz="7200" dirty="0"/>
              <a:t>, </a:t>
            </a:r>
            <a:r>
              <a:rPr lang="en-IN" sz="7200" dirty="0" err="1"/>
              <a:t>post_type</a:t>
            </a:r>
            <a:r>
              <a:rPr lang="en-IN" sz="7200" dirty="0"/>
              <a:t>, likes, comments, shares, saves, reach, impressions, hashtags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IN" sz="8000" b="1" dirty="0">
                <a:solidFill>
                  <a:srgbClr val="FFFF00"/>
                </a:solidFill>
              </a:rPr>
              <a:t>Tools &amp; Techniques Used</a:t>
            </a:r>
          </a:p>
          <a:p>
            <a:r>
              <a:rPr lang="en-IN" sz="7200" b="1" dirty="0">
                <a:solidFill>
                  <a:srgbClr val="002060"/>
                </a:solidFill>
              </a:rPr>
              <a:t>Power BI</a:t>
            </a:r>
            <a:r>
              <a:rPr lang="en-IN" sz="7200" dirty="0">
                <a:solidFill>
                  <a:srgbClr val="002060"/>
                </a:solidFill>
              </a:rPr>
              <a:t> – </a:t>
            </a:r>
            <a:r>
              <a:rPr lang="en-IN" sz="7200" dirty="0"/>
              <a:t>Dashboard creation &amp; data visualization</a:t>
            </a:r>
          </a:p>
          <a:p>
            <a:r>
              <a:rPr lang="en-IN" sz="7200" b="1" dirty="0">
                <a:solidFill>
                  <a:srgbClr val="002060"/>
                </a:solidFill>
              </a:rPr>
              <a:t>DAX</a:t>
            </a:r>
            <a:r>
              <a:rPr lang="en-IN" sz="7200" dirty="0">
                <a:solidFill>
                  <a:srgbClr val="002060"/>
                </a:solidFill>
              </a:rPr>
              <a:t> – </a:t>
            </a:r>
            <a:r>
              <a:rPr lang="en-IN" sz="7200" dirty="0"/>
              <a:t>KPI calculation and performance measures</a:t>
            </a:r>
          </a:p>
          <a:p>
            <a:r>
              <a:rPr lang="en-IN" sz="7200" b="1" dirty="0">
                <a:solidFill>
                  <a:srgbClr val="002060"/>
                </a:solidFill>
              </a:rPr>
              <a:t>Power Query</a:t>
            </a:r>
            <a:r>
              <a:rPr lang="en-IN" sz="7200" dirty="0">
                <a:solidFill>
                  <a:srgbClr val="002060"/>
                </a:solidFill>
              </a:rPr>
              <a:t> – </a:t>
            </a:r>
            <a:r>
              <a:rPr lang="en-IN" sz="7200" dirty="0"/>
              <a:t>Data cleaning &amp; transformation</a:t>
            </a:r>
          </a:p>
          <a:p>
            <a:r>
              <a:rPr lang="en-IN" sz="7200" b="1" dirty="0">
                <a:solidFill>
                  <a:srgbClr val="002060"/>
                </a:solidFill>
              </a:rPr>
              <a:t>Analytical Methods -</a:t>
            </a:r>
            <a:r>
              <a:rPr lang="en-IN" sz="7200" dirty="0">
                <a:solidFill>
                  <a:srgbClr val="002060"/>
                </a:solidFill>
              </a:rPr>
              <a:t> </a:t>
            </a:r>
            <a:r>
              <a:rPr lang="en-IN" sz="7200" dirty="0"/>
              <a:t>Trend analysis, engagement funnel, post-type comparison</a:t>
            </a:r>
          </a:p>
          <a:p>
            <a:pPr marL="0" indent="0">
              <a:buNone/>
            </a:pPr>
            <a:endParaRPr lang="en-US" sz="49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19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4000" b="1" dirty="0">
                <a:solidFill>
                  <a:schemeClr val="bg1"/>
                </a:solidFill>
              </a:rPr>
              <a:t>                        </a:t>
            </a:r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IN" sz="3600" b="1" dirty="0">
                <a:solidFill>
                  <a:srgbClr val="FFC000"/>
                </a:solidFill>
              </a:rPr>
              <a:t>         </a:t>
            </a:r>
            <a:endParaRPr lang="en-IN" sz="3600" dirty="0">
              <a:solidFill>
                <a:srgbClr val="FFC000"/>
              </a:solidFill>
            </a:endParaRPr>
          </a:p>
          <a:p>
            <a:pPr marL="0" indent="0" algn="r">
              <a:buNone/>
            </a:pP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754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E6FF6-A2C8-91DF-E15B-8D4E16974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75FE-1B4D-CB0C-7941-01F9DE85D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3" y="1016000"/>
            <a:ext cx="9613857" cy="81816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Key Metrics (KPIs)</a:t>
            </a:r>
            <a:r>
              <a:rPr lang="en-US" dirty="0"/>
              <a:t> | </a:t>
            </a:r>
            <a:r>
              <a:rPr lang="en-US" b="1" dirty="0"/>
              <a:t>Overall Instagram Summary</a:t>
            </a:r>
            <a:r>
              <a:rPr lang="en-US" dirty="0"/>
              <a:t> </a:t>
            </a:r>
            <a:br>
              <a:rPr lang="en-IN" b="1" dirty="0">
                <a:solidFill>
                  <a:srgbClr val="0070C0"/>
                </a:solidFill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6E92A-5ACB-843F-7902-7952F7F87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89699" y="2126255"/>
            <a:ext cx="5430551" cy="443979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Sugar Cosmetics</a:t>
            </a:r>
            <a:r>
              <a:rPr lang="en-US" sz="2400" dirty="0"/>
              <a:t> maintains a strong Instagram presence with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50K posts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/>
              <a:t>and a </a:t>
            </a:r>
            <a:r>
              <a:rPr lang="en-US" sz="2400" dirty="0">
                <a:solidFill>
                  <a:srgbClr val="EE0000"/>
                </a:solidFill>
              </a:rPr>
              <a:t>reach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rgbClr val="EE0000"/>
                </a:solidFill>
              </a:rPr>
              <a:t>987 million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brand generated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158 million likes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18 million comments</a:t>
            </a:r>
            <a:r>
              <a:rPr lang="en-US" sz="2400" dirty="0"/>
              <a:t>, achieving an impressive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18.5% engagement rate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results reflect a highly active and engaging community around the brand</a:t>
            </a:r>
            <a:r>
              <a:rPr lang="en-US" sz="2100" dirty="0"/>
              <a:t>.</a:t>
            </a:r>
            <a:r>
              <a:rPr lang="en-IN" sz="2100" b="1" dirty="0"/>
              <a:t>                                  </a:t>
            </a:r>
            <a:endParaRPr lang="en-IN" sz="2100" dirty="0"/>
          </a:p>
          <a:p>
            <a:pPr marL="0" indent="0" algn="r">
              <a:buNone/>
            </a:pPr>
            <a:br>
              <a:rPr lang="en-IN" b="1" dirty="0"/>
            </a:b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F777011-028E-3896-6467-E2DCA7828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260599"/>
            <a:ext cx="5588000" cy="430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33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6E865-99DB-B52C-33EF-458645D0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CAF3-F00E-441A-DE54-BB3E08639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635000"/>
            <a:ext cx="10065582" cy="1041400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solidFill>
                  <a:srgbClr val="0070C0"/>
                </a:solidFill>
              </a:rPr>
            </a:br>
            <a:r>
              <a:rPr lang="en-US" dirty="0"/>
              <a:t>Posting &amp; Content Insights | Trends and Post Performance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8F3D0-3665-B73E-029E-14CB4D26A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2222500"/>
            <a:ext cx="5499100" cy="4318001"/>
          </a:xfrm>
        </p:spPr>
        <p:txBody>
          <a:bodyPr>
            <a:normAutofit/>
          </a:bodyPr>
          <a:lstStyle/>
          <a:p>
            <a:r>
              <a:rPr lang="en-US" sz="2000" dirty="0"/>
              <a:t>Sugar Cosmetics maintained a </a:t>
            </a:r>
            <a:r>
              <a:rPr lang="en-US" sz="2000" b="1" dirty="0"/>
              <a:t>consistent posting trend</a:t>
            </a:r>
            <a:r>
              <a:rPr lang="en-US" sz="2000" dirty="0"/>
              <a:t>, averaging around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4K posts per month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/>
              <a:t>throughout the year.</a:t>
            </a:r>
          </a:p>
          <a:p>
            <a:r>
              <a:rPr lang="en-US" sz="2000" dirty="0"/>
              <a:t>A slight drop was observed in </a:t>
            </a:r>
            <a:r>
              <a:rPr lang="en-US" sz="2000" b="1" dirty="0"/>
              <a:t>April 2025</a:t>
            </a:r>
            <a:r>
              <a:rPr lang="en-US" sz="2000" dirty="0"/>
              <a:t>, indicating a possible pause in campaigns or posting schedule.</a:t>
            </a:r>
          </a:p>
          <a:p>
            <a:r>
              <a:rPr lang="en-US" sz="2000" dirty="0"/>
              <a:t>Among post types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Video and Carousel </a:t>
            </a:r>
            <a:r>
              <a:rPr lang="en-US" sz="2000" b="1" dirty="0"/>
              <a:t>posts</a:t>
            </a:r>
            <a:r>
              <a:rPr lang="en-US" sz="2000" dirty="0"/>
              <a:t> received the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highest average likes, comments, and saves</a:t>
            </a:r>
            <a:r>
              <a:rPr lang="en-US" sz="2000" dirty="0"/>
              <a:t>, highlighting audience preference for </a:t>
            </a:r>
            <a:r>
              <a:rPr lang="en-US" sz="2000" b="1" dirty="0"/>
              <a:t>interactive and visual-rich content.</a:t>
            </a:r>
            <a:endParaRPr lang="en-US" sz="2000" dirty="0"/>
          </a:p>
          <a:p>
            <a:r>
              <a:rPr lang="en-US" sz="2000" b="1" dirty="0"/>
              <a:t>Image posts</a:t>
            </a:r>
            <a:r>
              <a:rPr lang="en-US" sz="2000" dirty="0"/>
              <a:t> performed comparatively lower, suggesting a need to focus more on engaging formats like </a:t>
            </a:r>
            <a:r>
              <a:rPr lang="en-US" sz="2000" b="1" dirty="0"/>
              <a:t>Reels and Carousels.</a:t>
            </a:r>
            <a:endParaRPr lang="en-US" sz="2000" dirty="0"/>
          </a:p>
          <a:p>
            <a:pPr marL="0" indent="0" algn="r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4E833C-0934-8F4E-8521-29357E101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2122272"/>
            <a:ext cx="6146800" cy="1872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E79BD2-5C6C-DCE1-4888-86E3B6D9A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1" y="4222471"/>
            <a:ext cx="6146800" cy="251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6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051B-972E-FEBA-A6E9-D4FFEDB6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38200"/>
            <a:ext cx="10294182" cy="995966"/>
          </a:xfrm>
        </p:spPr>
        <p:txBody>
          <a:bodyPr>
            <a:normAutofit fontScale="90000"/>
          </a:bodyPr>
          <a:lstStyle/>
          <a:p>
            <a:r>
              <a:rPr lang="en-US" dirty="0"/>
              <a:t>     Top Performing Posts | Likes vs Engagement Rate 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8C6D74-0CA6-2F34-775C-F23B5E39EF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80200" y="2231697"/>
            <a:ext cx="55118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Top 10 Posts by Likes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mainly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Videos and Reels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strong audience preference for short, dynamic content.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Posts featuring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engagement rates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above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32%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highlighting their ability to drive active interactions.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Top 10 by Engagement 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includes a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mix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Videos, Stories, and Reels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variety also keeps audiences engaged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Overall,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video-based content delivers the highest engagement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the most effective format for Sugar Cosmetics’ Instagram strategy.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158B2-9CDB-654D-B4E0-5DF609AC7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49" y="2231696"/>
            <a:ext cx="3118151" cy="44012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2294F1-AD4E-1D15-AACF-2E56BA171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309656"/>
            <a:ext cx="3251201" cy="432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46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F22A-F7DD-0596-3031-0C97BDFC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753228"/>
            <a:ext cx="9499562" cy="1080938"/>
          </a:xfrm>
        </p:spPr>
        <p:txBody>
          <a:bodyPr/>
          <a:lstStyle/>
          <a:p>
            <a:r>
              <a:rPr lang="en-US" dirty="0"/>
              <a:t>Audience Behavior Insights | Engagement by Day &amp; Funnel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A44B6-9E59-4B6A-39B9-D8E7B8B9C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08200"/>
            <a:ext cx="5988882" cy="4584700"/>
          </a:xfrm>
        </p:spPr>
        <p:txBody>
          <a:bodyPr/>
          <a:lstStyle/>
          <a:p>
            <a:r>
              <a:rPr lang="en-US" b="1" dirty="0">
                <a:solidFill>
                  <a:srgbClr val="EE0000"/>
                </a:solidFill>
              </a:rPr>
              <a:t>Engagement remains steady</a:t>
            </a:r>
            <a:r>
              <a:rPr lang="en-US" dirty="0">
                <a:solidFill>
                  <a:srgbClr val="EE0000"/>
                </a:solidFill>
              </a:rPr>
              <a:t> </a:t>
            </a:r>
            <a:r>
              <a:rPr lang="en-US" dirty="0"/>
              <a:t>across the week, averaging around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18.5%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overall.</a:t>
            </a:r>
          </a:p>
          <a:p>
            <a:r>
              <a:rPr lang="en-US" b="1" dirty="0">
                <a:solidFill>
                  <a:srgbClr val="EE0000"/>
                </a:solidFill>
              </a:rPr>
              <a:t>Wednesday (18.63%)</a:t>
            </a:r>
            <a:r>
              <a:rPr lang="en-US" dirty="0">
                <a:solidFill>
                  <a:srgbClr val="EE0000"/>
                </a:solidFill>
              </a:rPr>
              <a:t> </a:t>
            </a:r>
            <a:r>
              <a:rPr lang="en-US" dirty="0"/>
              <a:t>shows the </a:t>
            </a:r>
            <a:r>
              <a:rPr lang="en-US" b="1" dirty="0">
                <a:solidFill>
                  <a:srgbClr val="EE0000"/>
                </a:solidFill>
              </a:rPr>
              <a:t>highest engagement</a:t>
            </a:r>
            <a:r>
              <a:rPr lang="en-US" dirty="0"/>
              <a:t>, followed closely by </a:t>
            </a:r>
            <a:r>
              <a:rPr lang="en-US" b="1" dirty="0">
                <a:solidFill>
                  <a:srgbClr val="EE0000"/>
                </a:solidFill>
              </a:rPr>
              <a:t>Saturday</a:t>
            </a:r>
            <a:r>
              <a:rPr lang="en-US" dirty="0"/>
              <a:t> and </a:t>
            </a:r>
            <a:r>
              <a:rPr lang="en-US" b="1" dirty="0">
                <a:solidFill>
                  <a:srgbClr val="EE0000"/>
                </a:solidFill>
              </a:rPr>
              <a:t>Tuesday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EE0000"/>
                </a:solidFill>
              </a:rPr>
              <a:t>Engagement Funnel</a:t>
            </a:r>
            <a:r>
              <a:rPr lang="en-US" dirty="0"/>
              <a:t> reveals a big drop from </a:t>
            </a:r>
            <a:r>
              <a:rPr lang="en-US" b="1" dirty="0">
                <a:solidFill>
                  <a:srgbClr val="EE0000"/>
                </a:solidFill>
              </a:rPr>
              <a:t>Reach (987 M)</a:t>
            </a:r>
            <a:r>
              <a:rPr lang="en-US" dirty="0">
                <a:solidFill>
                  <a:srgbClr val="EE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EE0000"/>
                </a:solidFill>
              </a:rPr>
              <a:t>Likes (148 M)</a:t>
            </a:r>
            <a:r>
              <a:rPr lang="en-US" dirty="0"/>
              <a:t> and </a:t>
            </a:r>
            <a:r>
              <a:rPr lang="en-US" b="1" dirty="0">
                <a:solidFill>
                  <a:srgbClr val="EE0000"/>
                </a:solidFill>
              </a:rPr>
              <a:t>Saves (9 M)</a:t>
            </a:r>
            <a:r>
              <a:rPr lang="en-US" dirty="0"/>
              <a:t>.</a:t>
            </a:r>
          </a:p>
          <a:p>
            <a:r>
              <a:rPr lang="en-US" dirty="0"/>
              <a:t>This indicates high visibility but low deeper actions—suggesting a need for </a:t>
            </a:r>
            <a:r>
              <a:rPr lang="en-US" b="1" dirty="0">
                <a:solidFill>
                  <a:srgbClr val="EE0000"/>
                </a:solidFill>
              </a:rPr>
              <a:t>more interactive, save-worthy content</a:t>
            </a:r>
            <a:r>
              <a:rPr lang="en-US" dirty="0"/>
              <a:t> like </a:t>
            </a:r>
            <a:r>
              <a:rPr lang="en-US" dirty="0">
                <a:solidFill>
                  <a:srgbClr val="EE0000"/>
                </a:solidFill>
              </a:rPr>
              <a:t>tutorials or Reels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9BB00-5E97-D17C-4609-75CD04645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18" y="2108200"/>
            <a:ext cx="5582482" cy="1765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6EB19F-533A-716D-3351-21C3CF75B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18" y="4147534"/>
            <a:ext cx="5582482" cy="254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6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5F458-6F6E-ECAC-D35D-DEBC2978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1" y="753228"/>
            <a:ext cx="10040182" cy="1080938"/>
          </a:xfrm>
        </p:spPr>
        <p:txBody>
          <a:bodyPr/>
          <a:lstStyle/>
          <a:p>
            <a:r>
              <a:rPr lang="en-US" b="1" dirty="0"/>
              <a:t>Hashtag Analysis</a:t>
            </a:r>
            <a:r>
              <a:rPr lang="en-US" dirty="0"/>
              <a:t> | </a:t>
            </a:r>
            <a:r>
              <a:rPr lang="en-US" b="1" dirty="0"/>
              <a:t>Top Hashtags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0FD9-E1FD-0098-B6C7-F4BD4820A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8500" y="2209800"/>
            <a:ext cx="6153982" cy="4356099"/>
          </a:xfrm>
        </p:spPr>
        <p:txBody>
          <a:bodyPr>
            <a:normAutofit fontScale="92500"/>
          </a:bodyPr>
          <a:lstStyle/>
          <a:p>
            <a:r>
              <a:rPr lang="en-US" dirty="0"/>
              <a:t>The top hashtags used by Sugar Cosmetics consistently show </a:t>
            </a:r>
            <a:r>
              <a:rPr lang="en-US" b="1" dirty="0"/>
              <a:t>strong engagement rates</a:t>
            </a:r>
            <a:r>
              <a:rPr lang="en-US" dirty="0"/>
              <a:t>, mostly around </a:t>
            </a:r>
            <a:r>
              <a:rPr lang="en-US" b="1" dirty="0">
                <a:solidFill>
                  <a:srgbClr val="EE0000"/>
                </a:solidFill>
              </a:rPr>
              <a:t>18–19%</a:t>
            </a:r>
            <a:r>
              <a:rPr lang="en-US" dirty="0"/>
              <a:t>.</a:t>
            </a:r>
          </a:p>
          <a:p>
            <a:r>
              <a:rPr lang="en-US" dirty="0"/>
              <a:t>Hashtag combinations like </a:t>
            </a:r>
            <a:r>
              <a:rPr lang="en-US" b="1" dirty="0">
                <a:solidFill>
                  <a:srgbClr val="EE0000"/>
                </a:solidFill>
              </a:rPr>
              <a:t>#BoldLooks, #CrueltyFree</a:t>
            </a:r>
            <a:r>
              <a:rPr lang="en-US" dirty="0">
                <a:solidFill>
                  <a:srgbClr val="EE0000"/>
                </a:solidFill>
              </a:rPr>
              <a:t>, </a:t>
            </a:r>
            <a:r>
              <a:rPr lang="en-US" b="1" dirty="0">
                <a:solidFill>
                  <a:srgbClr val="EE0000"/>
                </a:solidFill>
              </a:rPr>
              <a:t>#SugarCosmetics</a:t>
            </a:r>
            <a:r>
              <a:rPr lang="en-US" dirty="0">
                <a:solidFill>
                  <a:srgbClr val="EE0000"/>
                </a:solidFill>
              </a:rPr>
              <a:t>, and </a:t>
            </a:r>
            <a:r>
              <a:rPr lang="en-US" b="1" dirty="0">
                <a:solidFill>
                  <a:srgbClr val="EE0000"/>
                </a:solidFill>
              </a:rPr>
              <a:t>#VeganBeauty</a:t>
            </a:r>
            <a:r>
              <a:rPr lang="en-US" dirty="0"/>
              <a:t> perform the best across posts.</a:t>
            </a:r>
          </a:p>
          <a:p>
            <a:r>
              <a:rPr lang="en-US" dirty="0"/>
              <a:t>Posts with </a:t>
            </a:r>
            <a:r>
              <a:rPr lang="en-US" b="1" dirty="0">
                <a:solidFill>
                  <a:srgbClr val="EE0000"/>
                </a:solidFill>
              </a:rPr>
              <a:t>branded and niche beauty hashtags</a:t>
            </a:r>
            <a:r>
              <a:rPr lang="en-US" dirty="0"/>
              <a:t> drive better interaction than generic ones.</a:t>
            </a:r>
          </a:p>
          <a:p>
            <a:r>
              <a:rPr lang="en-US" dirty="0"/>
              <a:t>This suggests the brand should continue using </a:t>
            </a:r>
            <a:r>
              <a:rPr lang="en-US" b="1" dirty="0">
                <a:solidFill>
                  <a:srgbClr val="EE0000"/>
                </a:solidFill>
              </a:rPr>
              <a:t>focused, relevant hashtag groups</a:t>
            </a:r>
            <a:r>
              <a:rPr lang="en-US" dirty="0">
                <a:solidFill>
                  <a:srgbClr val="EE0000"/>
                </a:solidFill>
              </a:rPr>
              <a:t> </a:t>
            </a:r>
            <a:r>
              <a:rPr lang="en-US" dirty="0"/>
              <a:t>to maintain high engagement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D65DE8-C794-A661-43C9-7EB005E64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1" y="2209800"/>
            <a:ext cx="5277682" cy="435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682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EBF14-3845-6775-9AC8-F1A78FEAB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/>
              <a:t>Final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0415A-7F46-65A7-A365-7388A032A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0" y="2133600"/>
            <a:ext cx="10686179" cy="4578648"/>
          </a:xfrm>
        </p:spPr>
      </p:pic>
    </p:spTree>
    <p:extLst>
      <p:ext uri="{BB962C8B-B14F-4D97-AF65-F5344CB8AC3E}">
        <p14:creationId xmlns:p14="http://schemas.microsoft.com/office/powerpoint/2010/main" val="3626632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1D27-55E5-9E99-6CBB-F8A021A1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098679" cy="1080938"/>
          </a:xfrm>
        </p:spPr>
        <p:txBody>
          <a:bodyPr/>
          <a:lstStyle/>
          <a:p>
            <a:r>
              <a:rPr lang="en-IN" b="1" dirty="0"/>
              <a:t>Recommendations &amp; Strategy</a:t>
            </a:r>
            <a:r>
              <a:rPr lang="en-IN" dirty="0"/>
              <a:t> | </a:t>
            </a:r>
            <a:r>
              <a:rPr lang="en-IN" b="1" dirty="0"/>
              <a:t>Business Suggestions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6C4ACF-BB33-AE89-8505-C8CAA89C1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2108200"/>
            <a:ext cx="11226800" cy="4533900"/>
          </a:xfrm>
        </p:spPr>
      </p:pic>
    </p:spTree>
    <p:extLst>
      <p:ext uri="{BB962C8B-B14F-4D97-AF65-F5344CB8AC3E}">
        <p14:creationId xmlns:p14="http://schemas.microsoft.com/office/powerpoint/2010/main" val="333639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F69BD-4214-A6EB-CC5B-3C84ADA8665F}"/>
              </a:ext>
            </a:extLst>
          </p:cNvPr>
          <p:cNvSpPr txBox="1"/>
          <p:nvPr/>
        </p:nvSpPr>
        <p:spPr>
          <a:xfrm>
            <a:off x="1079500" y="2133600"/>
            <a:ext cx="962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1868060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8D4585"/>
      </a:dk2>
      <a:lt2>
        <a:srgbClr val="E7E6E6"/>
      </a:lt2>
      <a:accent1>
        <a:srgbClr val="F35AE6"/>
      </a:accent1>
      <a:accent2>
        <a:srgbClr val="FC5283"/>
      </a:accent2>
      <a:accent3>
        <a:srgbClr val="F67C64"/>
      </a:accent3>
      <a:accent4>
        <a:srgbClr val="F89F65"/>
      </a:accent4>
      <a:accent5>
        <a:srgbClr val="55C6BA"/>
      </a:accent5>
      <a:accent6>
        <a:srgbClr val="84A3FD"/>
      </a:accent6>
      <a:hlink>
        <a:srgbClr val="6ED4F6"/>
      </a:hlink>
      <a:folHlink>
        <a:srgbClr val="9FECFC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7D30EEFE-7128-4DE5-8A0D-8D4EF32CB0A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1497</TotalTime>
  <Words>578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Berlin</vt:lpstr>
      <vt:lpstr>Labmentix </vt:lpstr>
      <vt:lpstr>Project Overview  </vt:lpstr>
      <vt:lpstr>Key Metrics (KPIs) | Overall Instagram Summary  </vt:lpstr>
      <vt:lpstr> Posting &amp; Content Insights | Trends and Post Performance </vt:lpstr>
      <vt:lpstr>     Top Performing Posts | Likes vs Engagement Rate </vt:lpstr>
      <vt:lpstr>Audience Behavior Insights | Engagement by Day &amp; Funnel </vt:lpstr>
      <vt:lpstr>Hashtag Analysis | Top Hashtags Performance</vt:lpstr>
      <vt:lpstr>Final Dashboard</vt:lpstr>
      <vt:lpstr>Recommendations &amp; Strategy | Business Suggestions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chama kaushik</dc:creator>
  <cp:lastModifiedBy>chama kaushik</cp:lastModifiedBy>
  <cp:revision>1</cp:revision>
  <dcterms:created xsi:type="dcterms:W3CDTF">2025-11-13T14:16:39Z</dcterms:created>
  <dcterms:modified xsi:type="dcterms:W3CDTF">2025-11-14T15:13:43Z</dcterms:modified>
</cp:coreProperties>
</file>